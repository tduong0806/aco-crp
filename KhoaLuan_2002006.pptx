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86" r:id="rId15"/>
    <p:sldId id="287" r:id="rId16"/>
    <p:sldId id="28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90" r:id="rId25"/>
    <p:sldId id="277" r:id="rId26"/>
    <p:sldId id="291" r:id="rId27"/>
    <p:sldId id="292" r:id="rId28"/>
    <p:sldId id="278" r:id="rId29"/>
    <p:sldId id="281" r:id="rId30"/>
    <p:sldId id="284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8F72D-DC30-50AA-7049-D6127ADE448D}" v="26" dt="2026-06-03T05:46:19.964"/>
    <p1510:client id="{B33D1192-AFB4-4CA1-BDC0-D6EB41962197}" v="207" dt="2026-06-02T20:29:33.293"/>
    <p1510:client id="{FBA471BF-BF66-4B20-B6E1-DBB2BB1DD5DA}" v="2445" dt="2026-06-02T22:48:17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A5E47-F439-4028-96EC-FC58427B760A}" type="datetimeFigureOut">
              <a:t>6/2/2026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98D09-451F-4D4E-BFD2-69BF7B9795FF}" type="slidenum"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59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2010-1921-1598-24D4-5929FA49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F2D60-EA2E-D3F4-5A1E-B3BB23AD6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B7B17-D513-8973-4326-E746FC40A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F5210-73AF-E2B1-2D8D-57C6E09AD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74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D81E-35A4-720E-6499-45AACCCE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67F43-CF43-2A7E-4E92-500CEF3F2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2B6BB-7625-53F9-3BD9-951EF41F8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03ED2-9E5B-FA4B-5A81-3624A200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29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17B7-8B6E-5FEB-7D49-26C1DAF8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6544F-9B07-FEF9-5403-4F44CF435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E2D7A-AD4C-20A0-1131-FE70BE08E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EC647-7A34-EA35-199F-5D500F081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26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EB17-E371-9885-0A5C-02727615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9C627-34E6-86D2-656A-4346E7A16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7B1B2-8891-C485-F8BB-93410824B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08D6F-D422-50FE-7AC6-8D8B1412F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773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0C9F-8504-1360-A738-43769009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F0A8D-A785-EB72-728A-EC3012D55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09CCE-0C2E-ADE8-05A2-CD1939683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BBA52-0FAC-88D8-7306-C176EE226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29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0E98-4860-2173-50AB-9DF697ED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6FCB9-E4AA-894A-37D5-413F548FA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59487-779A-E15B-B40F-EDAA5A381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CEB1F-212B-FB48-DFD4-151A82A0A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84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Tối ưu quy trình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sắp xếp container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cảng biển</a:t>
            </a:r>
            <a:endParaRPr lang="en-US" sz="340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530352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Đào Quang Thái Dương – K65, CNTT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TS. Đỗ Đức Đông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Công Nghệ – ĐHQGHN</a:t>
            </a:r>
            <a:endParaRPr lang="en-US" sz="1200"/>
          </a:p>
        </p:txBody>
      </p:sp>
      <p:pic>
        <p:nvPicPr>
          <p:cNvPr id="11" name="Hình ảnh 10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id="{0EB0A2EA-BE5C-1722-8B6F-004B289A2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227" y="272180"/>
            <a:ext cx="13716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&amp; Bối cảnh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Tầm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quan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trọng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bài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CRP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vận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tải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biển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914400" y="19110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CRP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914400" y="2112264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Giới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thiệu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phân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loại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386584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8658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914400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phương pháp hiện có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914400" y="2596896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Cổ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điển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Heuristic, meta-heuristic.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7121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914400" y="2880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đàn kiến (ACO)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914400" y="3081528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Nguồn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gốc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cấu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trúc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biến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5584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914400" y="3364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 đề xuất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914400" y="3566160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Đề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xuất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thuật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>
              <a:solidFill>
                <a:srgbClr val="546E7A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404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914400" y="38496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nghiệm &amp; Đánh giá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914400" y="4050792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quả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so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sánh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0" name="Shape 28"/>
          <p:cNvSpPr/>
          <p:nvPr/>
        </p:nvSpPr>
        <p:spPr>
          <a:xfrm>
            <a:off x="365760" y="4325112"/>
            <a:ext cx="40233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251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914400" y="4334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914400" y="4535424"/>
            <a:ext cx="77724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Tổng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hướng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phát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triển</a:t>
            </a: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sao cần tối ưu sắp xếp container?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1920240" cy="24688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🚢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393192" y="26517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hóa thế giới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chuyển bằng biển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920240" cy="2468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📦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2468880" y="2084832"/>
            <a:ext cx="19202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900M+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42032" y="2651760"/>
            <a:ext cx="1773936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TEU qua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cảng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năm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2025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(UNCTAD)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1920240" cy="24688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⏱️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4617720" y="20848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4690872" y="26517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cẩu bãi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tái định vị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766560" y="1463040"/>
            <a:ext cx="1920240" cy="2468880"/>
          </a:xfrm>
          <a:prstGeom prst="rect">
            <a:avLst/>
          </a:prstGeom>
          <a:solidFill>
            <a:srgbClr val="1A3A6E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💰</a:t>
            </a:r>
            <a:endParaRPr lang="en-US" sz="2600"/>
          </a:p>
        </p:txBody>
      </p:sp>
      <p:sp>
        <p:nvSpPr>
          <p:cNvPr id="20" name="Text 18"/>
          <p:cNvSpPr/>
          <p:nvPr/>
        </p:nvSpPr>
        <p:spPr>
          <a:xfrm>
            <a:off x="6766560" y="20848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6839712" y="26517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định vị làm tăng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đáng kể chi phí vận hành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endParaRPr lang="en-US" sz="1400" i="1">
              <a:solidFill>
                <a:srgbClr val="0B1F4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BÀI TOÁN CRP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bãi chứa container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077865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75488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969264" y="1417320"/>
            <a:ext cx="475488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4173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81328" y="1417320"/>
            <a:ext cx="475488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4173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1993392" y="1417320"/>
            <a:ext cx="475488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4173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475488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10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969264" y="1810512"/>
            <a:ext cx="475488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1810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81328" y="1810512"/>
            <a:ext cx="475488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1810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1993392" y="1810512"/>
            <a:ext cx="475488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1810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203704"/>
            <a:ext cx="475488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037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969264" y="2203704"/>
            <a:ext cx="475488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22037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1481328" y="2203704"/>
            <a:ext cx="475488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328" y="22037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993392" y="2203704"/>
            <a:ext cx="475488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22037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30" name="Text 28"/>
          <p:cNvSpPr/>
          <p:nvPr/>
        </p:nvSpPr>
        <p:spPr>
          <a:xfrm>
            <a:off x="457200" y="2642616"/>
            <a:ext cx="21945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>
              <a:solidFill>
                <a:srgbClr val="2196F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1188720"/>
            <a:ext cx="475488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W1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969264" y="1188720"/>
            <a:ext cx="475488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W2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1481328" y="1188720"/>
            <a:ext cx="475488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W3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1993392" y="1188720"/>
            <a:ext cx="475488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W4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834640" y="141732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147218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Kích thước bãi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>
          <a:xfrm>
            <a:off x="2971800" y="1764792"/>
            <a:ext cx="56692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H×W: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chiều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cao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×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; N =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hiện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2834640" y="228600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71800" y="234086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Thứ tự lấy ra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2971800" y="2633472"/>
            <a:ext cx="56692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Mỗi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tiên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lấy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lớn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2834640" y="315468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71800" y="320954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Tái định vị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2971800" y="3502152"/>
            <a:ext cx="56692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Di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dời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chắn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phía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trên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sang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khác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2834640" y="402336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407822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Mục tiêu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2971800" y="4370832"/>
            <a:ext cx="56692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thiểu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tổng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thao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tái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vị</a:t>
            </a:r>
            <a:r>
              <a:rPr lang="en-US" sz="1200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87DC2711-58D7-6D0F-4EAC-3E2B54957534}"/>
              </a:ext>
            </a:extLst>
          </p:cNvPr>
          <p:cNvSpPr/>
          <p:nvPr/>
        </p:nvSpPr>
        <p:spPr>
          <a:xfrm>
            <a:off x="-623169" y="891226"/>
            <a:ext cx="1829862" cy="1489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H1</a:t>
            </a:r>
            <a:endParaRPr lang="en-US" sz="1100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0A564836-26AA-5372-9564-E316F00A28A7}"/>
              </a:ext>
            </a:extLst>
          </p:cNvPr>
          <p:cNvSpPr/>
          <p:nvPr/>
        </p:nvSpPr>
        <p:spPr>
          <a:xfrm>
            <a:off x="-701458" y="1415756"/>
            <a:ext cx="1986440" cy="11602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H2</a:t>
            </a:r>
            <a:endParaRPr lang="en-US" sz="110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4BF58053-2891-0F58-5F3D-6B1EE58354E0}"/>
              </a:ext>
            </a:extLst>
          </p:cNvPr>
          <p:cNvSpPr/>
          <p:nvPr/>
        </p:nvSpPr>
        <p:spPr>
          <a:xfrm>
            <a:off x="-889348" y="1415753"/>
            <a:ext cx="2377876" cy="1927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H3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BÀI TOÁN CRP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bài toán CRP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1463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73152" cy="1463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08760"/>
            <a:ext cx="38404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Tĩnh / </a:t>
            </a:r>
            <a:r>
              <a:rPr lang="en-US" sz="15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Động</a:t>
            </a:r>
            <a:endParaRPr lang="vi-VN" err="1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384048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91440" tIns="45720" rIns="91440" bIns="45720" rtlCol="0" anchor="t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Tĩnh: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container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đã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bãi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 </a:t>
            </a:r>
            <a:br>
              <a:rPr lang="en-US" sz="1300">
                <a:latin typeface="Calibri"/>
                <a:ea typeface="Calibri"/>
                <a:cs typeface="Calibri"/>
              </a:rPr>
            </a:b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container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mới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quá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trình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xử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lý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vi-VN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463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1463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08760"/>
            <a:ext cx="38404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Ngoại</a:t>
            </a:r>
            <a:r>
              <a:rPr lang="en-US" sz="15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 </a:t>
            </a:r>
            <a:r>
              <a:rPr lang="en-US" sz="15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tuyến</a:t>
            </a:r>
            <a:r>
              <a:rPr lang="en-US" sz="15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 / </a:t>
            </a:r>
            <a:r>
              <a:rPr lang="en-US" sz="15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Trực</a:t>
            </a:r>
            <a:r>
              <a:rPr lang="en-US" sz="15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 </a:t>
            </a:r>
            <a:r>
              <a:rPr lang="en-US" sz="15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tuyến</a:t>
            </a:r>
            <a:endParaRPr lang="vi-VN" err="1"/>
          </a:p>
        </p:txBody>
      </p:sp>
      <p:sp>
        <p:nvSpPr>
          <p:cNvPr id="13" name="Text 11"/>
          <p:cNvSpPr/>
          <p:nvPr/>
        </p:nvSpPr>
        <p:spPr>
          <a:xfrm>
            <a:off x="4919472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Ngoại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tuyến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biết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thứ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tự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lấy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ra.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br>
              <a:rPr lang="en-US"/>
            </a:b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Trực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tuyến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quyết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từng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vi-VN" sz="13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3154680"/>
            <a:ext cx="38404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500" b="1">
              <a:solidFill>
                <a:srgbClr val="FFC107"/>
              </a:solidFill>
              <a:latin typeface="Cambria"/>
              <a:ea typeface="Cambri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4716" y="3063240"/>
            <a:ext cx="8404964" cy="1463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942" y="3063240"/>
            <a:ext cx="73152" cy="1463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92" y="3240796"/>
            <a:ext cx="8224588" cy="274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/ 3D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58849" y="3536097"/>
            <a:ext cx="8208931" cy="8987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2D: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phẳng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độc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lập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</a:t>
            </a:r>
            <a:br>
              <a:rPr lang="en-US"/>
            </a:b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3D: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xét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chiều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sâu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phức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tạp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hơn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nhiều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Khóa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luận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này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tập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trung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vào</a:t>
            </a:r>
            <a:r>
              <a:rPr lang="en-US" sz="1300" b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: CRP 2D – Tĩnh – Ngoại </a:t>
            </a:r>
            <a:r>
              <a:rPr lang="en-US" sz="1300" b="1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tuyến</a:t>
            </a:r>
            <a:endParaRPr lang="en-US" sz="1300" b="1" err="1">
              <a:solidFill>
                <a:srgbClr val="0B1F4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BÀI TOÁN CRP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phức tạp &amp; Ý nghĩa thực tiễn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383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Độ phức tạp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490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Bài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CRP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thuộc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lớp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NP-</a:t>
            </a:r>
            <a:r>
              <a:rPr lang="en-US" sz="160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khó</a:t>
            </a:r>
            <a:r>
              <a:rPr lang="en-US" sz="160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/>
          </a:p>
          <a:p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Không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tìm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thuật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quyết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đa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thức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 </a:t>
            </a:r>
            <a:endParaRPr lang="en-US" sz="1300">
              <a:solidFill>
                <a:srgbClr val="FFFFFF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Với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bãi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6×7 (N=37 container),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không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chính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xác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chấp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nhận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được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206240" cy="3383280"/>
          </a:xfrm>
          <a:prstGeom prst="rect">
            <a:avLst/>
          </a:prstGeom>
          <a:solidFill>
            <a:srgbClr val="F4F8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Ý nghĩa thực tiễn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4681728" y="2011680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Giảm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chờ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tàu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tăng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năng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suất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cảng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681728" y="2651760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624328"/>
            <a:ext cx="35661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kiệm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nhiên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chi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phí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vận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hành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cẩu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681728" y="3291840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Giảm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thời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gian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chờ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phương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tiện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vận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tải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.</a:t>
            </a:r>
            <a:endParaRPr lang="vi-VN" err="1"/>
          </a:p>
        </p:txBody>
      </p:sp>
      <p:sp>
        <p:nvSpPr>
          <p:cNvPr id="18" name="Text 16"/>
          <p:cNvSpPr/>
          <p:nvPr/>
        </p:nvSpPr>
        <p:spPr>
          <a:xfrm>
            <a:off x="5029200" y="3904488"/>
            <a:ext cx="35661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>
              <a:solidFill>
                <a:srgbClr val="0B1F4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– TỔNG QUAN NGHIÊN CỨU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các phương pháp giải CRP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965960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Cổ điển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(Exact)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48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hoạch nguyên (ILP)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320040" y="2770632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320040" y="3392424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39242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196596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173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kiếm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(Heuristic)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2468880" y="2148840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148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Heuristic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2468880" y="2770632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Rule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2468880" y="3392424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39242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(Caserta)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196596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4173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kiếm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(BSA)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617720" y="2148840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148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(Wu &amp; Ting)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4617720" y="2770632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770632"/>
            <a:ext cx="1965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5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17720" y="3392424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392424"/>
            <a:ext cx="1965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5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766560" y="1417320"/>
            <a:ext cx="1965960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4173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6766560" y="2148840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148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250"/>
          </a:p>
        </p:txBody>
      </p:sp>
      <p:sp>
        <p:nvSpPr>
          <p:cNvPr id="34" name="Shape 32"/>
          <p:cNvSpPr/>
          <p:nvPr/>
        </p:nvSpPr>
        <p:spPr>
          <a:xfrm>
            <a:off x="6766560" y="2770632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770632"/>
            <a:ext cx="1965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50">
                <a:solidFill>
                  <a:srgbClr val="0B1F4B"/>
                </a:solidFill>
                <a:ea typeface="Calibri"/>
                <a:cs typeface="Calibri"/>
              </a:rPr>
              <a:t>Genetic Algorithm</a:t>
            </a:r>
            <a:endParaRPr lang="en-US" sz="12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766560" y="3392424"/>
            <a:ext cx="196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392424"/>
            <a:ext cx="1965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50">
                <a:solidFill>
                  <a:srgbClr val="0B1F4B"/>
                </a:solidFill>
                <a:ea typeface="Calibri"/>
                <a:cs typeface="Calibri"/>
              </a:rPr>
              <a:t>ACO (đề xuất)</a:t>
            </a:r>
            <a:endParaRPr lang="en-US" sz="12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84124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i="1">
              <a:solidFill>
                <a:srgbClr val="0B1F4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– THUẬT TOÁN ACO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đàn kiến – Nguồn gốc sinh học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4630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>
                <a:solidFill>
                  <a:srgbClr val="000000"/>
                </a:solidFill>
              </a:rPr>
              <a:t>🐜</a:t>
            </a:r>
            <a:endParaRPr lang="en-US" sz="720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tìm đường bằng pheromone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310896" cy="31089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749808" y="3273552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ngẫu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nhiên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tổ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thức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ăn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514600" y="3291840"/>
            <a:ext cx="310896" cy="31089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898648" y="3273552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Thả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trên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310896" cy="31089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047488" y="3273552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ngắn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→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nhiều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qua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hơn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pheromone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đậm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hơn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3291840"/>
            <a:ext cx="310896" cy="31089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7196328" y="3273552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khác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dấu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mạnh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→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hội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tụ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về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học phân tán, không cần bộ nhớ trung tâm — thích nghi tự nhiên với không gian tìm kiếm phức tạp.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– THUẬT TOÁN ACO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Cấu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trúc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tổng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quát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thuật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toán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ACO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nhân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tạo</a:t>
            </a:r>
            <a:endParaRPr lang="en-US" sz="3000" err="1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560320" cy="146304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560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Khởi tạo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2340864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Khởi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tạo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ma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trận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T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với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giá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trị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τ₀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đồng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đều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560320" cy="146304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17320"/>
            <a:ext cx="2560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Sinh giải pháp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310128" y="1856232"/>
            <a:ext cx="2340864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Mỗi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xây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dựng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pháp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xác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suất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hợp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τ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heuristic η.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560320" cy="146304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2560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3.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Đánh</a:t>
            </a: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giá</a:t>
            </a: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và</a:t>
            </a: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cập</a:t>
            </a: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nhật</a:t>
            </a:r>
            <a:endParaRPr lang="en-US" sz="1400" err="1"/>
          </a:p>
        </p:txBody>
      </p:sp>
      <p:sp>
        <p:nvSpPr>
          <p:cNvPr id="17" name="Text 15"/>
          <p:cNvSpPr/>
          <p:nvPr/>
        </p:nvSpPr>
        <p:spPr>
          <a:xfrm>
            <a:off x="6144768" y="1856232"/>
            <a:ext cx="2340864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chất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lượng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từng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pháp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lần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tái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vị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).</a:t>
            </a:r>
            <a:b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nhất</a:t>
            </a:r>
            <a:endParaRPr lang="en-US" sz="1200" err="1"/>
          </a:p>
        </p:txBody>
      </p:sp>
      <p:sp>
        <p:nvSpPr>
          <p:cNvPr id="18" name="Shape 16"/>
          <p:cNvSpPr/>
          <p:nvPr/>
        </p:nvSpPr>
        <p:spPr>
          <a:xfrm>
            <a:off x="1783080" y="3200400"/>
            <a:ext cx="2560320" cy="146304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3200400"/>
            <a:ext cx="2560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Cập nhật pheromone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892808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Bay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hơi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pheromone; </a:t>
            </a:r>
            <a:b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Tăng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cường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trên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Shape 20"/>
          <p:cNvSpPr/>
          <p:nvPr/>
        </p:nvSpPr>
        <p:spPr>
          <a:xfrm>
            <a:off x="4617720" y="3200400"/>
            <a:ext cx="2560320" cy="146304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200400"/>
            <a:ext cx="25603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Lặp lại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727448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Lặp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lại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đạt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điều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kiện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dừng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>
              <a:solidFill>
                <a:srgbClr val="0B1F4B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– THUẬT TOÁN ACO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biến thể quan trọng của ACO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06040" cy="141732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097280" y="15270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 System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Biến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gốc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(Dorigo, 1992);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tất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cả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1732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931920" y="15270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 Colony System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931920" y="185623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Quy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tắc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chọn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khai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thác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khám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phá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cục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cục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MMAS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766560" y="15270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Max-Min Ant System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6766560" y="185623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Giới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hạn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[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τ_min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τ_max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];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2606040" cy="141732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7180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7180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SMMAS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1097280" y="30815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MMAS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097280" y="341071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MMAS, 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tích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hợp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một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cơ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chế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làm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mượt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điều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chỉnh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vào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quy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tắc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cập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nhật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mùi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FFFFFF"/>
                </a:solidFill>
                <a:ea typeface="+mn-lt"/>
                <a:cs typeface="+mn-lt"/>
              </a:rPr>
              <a:t>tạo</a:t>
            </a:r>
            <a:r>
              <a:rPr lang="en-US" sz="115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1150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606040" cy="141732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97180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97180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3931920" y="30815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Elitist AS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3931920" y="341071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Trao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lời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cục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606040" cy="141732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971800"/>
            <a:ext cx="658368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971800"/>
            <a:ext cx="658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PACO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6766560" y="30815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ACO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6766560" y="3410712"/>
            <a:ext cx="17830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Nhiều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đàn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song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song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trao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đổi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kỳ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5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FFC107">
              <a:alpha val="4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sử dụng SMMAS làm cơ chế cập nhật pheromone cho thuật toán ACO2 đề xuất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 cốt lõi của phương pháp đề xuất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ACO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học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trực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tiếp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từ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không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gian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quyết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định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của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bài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800" i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toán</a:t>
            </a:r>
            <a:r>
              <a:rPr lang="en-US" sz="1800" i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.</a:t>
            </a:r>
            <a:endParaRPr lang="en-US" sz="1800">
              <a:latin typeface="Cambria"/>
              <a:ea typeface="Cambria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606040" cy="237744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🧪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475488" y="3200400"/>
            <a:ext cx="2386584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Ma </a:t>
            </a:r>
            <a:r>
              <a:rPr lang="en-US" sz="1300" b="1" err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trận</a:t>
            </a:r>
            <a:r>
              <a:rPr lang="en-US" sz="1300" b="1">
                <a:solidFill>
                  <a:srgbClr val="FFC107"/>
                </a:solidFill>
                <a:latin typeface="Cambria"/>
                <a:ea typeface="Cambria"/>
                <a:cs typeface="Cambria" pitchFamily="34" charset="-120"/>
              </a:rPr>
              <a:t> pheromone</a:t>
            </a:r>
            <a:endParaRPr lang="en-US" sz="1300" b="1">
              <a:solidFill>
                <a:srgbClr val="FFC107"/>
              </a:solidFill>
              <a:latin typeface="Cambria"/>
              <a:ea typeface="Cambr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3621024"/>
            <a:ext cx="2386584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trận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T[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][j],  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trong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đó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i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là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chỉ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số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của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container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đang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cần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di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chuyển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và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j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là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giá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trị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của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container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nhỏ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nhất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(min-container)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của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cột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+mn-lt"/>
                <a:cs typeface="+mn-lt"/>
              </a:rPr>
              <a:t>đích</a:t>
            </a:r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606040" cy="237744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🎲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3310128" y="3200400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suất lựa chọn cột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310128" y="3621024"/>
            <a:ext cx="2386584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 hợp pheromone τ với heuristic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η; tham số α, β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điều chỉnh tỷ trọng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2606040" cy="237744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🔄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6144768" y="3200400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 SMMAS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144768" y="3621024"/>
            <a:ext cx="2386584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Hội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tụ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mượt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hơn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tránh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bị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kẹt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giới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hạn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[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τ_min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τ_max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ngăn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sự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hội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tụ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Thuật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toán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ACO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cơ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sở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cho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bài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toán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CRP (ACO1)</a:t>
            </a:r>
            <a:endParaRPr lang="vi-VN" b="1">
              <a:latin typeface="Cambria"/>
              <a:ea typeface="Cambria"/>
              <a:cs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Khởi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tạo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ma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trận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pheromone T[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][j]</a:t>
            </a:r>
            <a:endParaRPr lang="en-US" sz="13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18288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57400"/>
            <a:ext cx="274320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57400"/>
            <a:ext cx="2743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Sinh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pháp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bằng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kiến</a:t>
            </a:r>
            <a:endParaRPr lang="vi-VN" err="1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0" cy="18288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697480"/>
            <a:ext cx="2743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quả</a:t>
            </a:r>
            <a:endParaRPr lang="en-US" sz="1300" b="1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0" cy="18288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337560"/>
            <a:ext cx="2743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Cập 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pheromone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bằng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SMMAS</a:t>
            </a:r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572000" y="3794760"/>
            <a:ext cx="0" cy="18288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977640"/>
            <a:ext cx="2743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Lặp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lại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2</a:t>
            </a:r>
            <a:endParaRPr lang="en-US" sz="13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92742" y="1466018"/>
            <a:ext cx="2418454" cy="2975501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463040"/>
            <a:ext cx="246888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0B1F4B"/>
                </a:solidFill>
                <a:latin typeface="Cambria"/>
                <a:ea typeface="Cambria"/>
              </a:rPr>
              <a:t>Sinh </a:t>
            </a:r>
            <a:r>
              <a:rPr lang="en-US" sz="1300" b="1" err="1">
                <a:solidFill>
                  <a:srgbClr val="0B1F4B"/>
                </a:solidFill>
                <a:latin typeface="Cambria"/>
                <a:ea typeface="Cambria"/>
              </a:rPr>
              <a:t>giải</a:t>
            </a:r>
            <a:r>
              <a:rPr lang="en-US" sz="13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1300" b="1" err="1">
                <a:solidFill>
                  <a:srgbClr val="0B1F4B"/>
                </a:solidFill>
                <a:latin typeface="Cambria"/>
                <a:ea typeface="Cambria"/>
              </a:rPr>
              <a:t>pháp</a:t>
            </a:r>
          </a:p>
        </p:txBody>
      </p:sp>
      <p:sp>
        <p:nvSpPr>
          <p:cNvPr id="22" name="Shape 20"/>
          <p:cNvSpPr/>
          <p:nvPr/>
        </p:nvSpPr>
        <p:spPr>
          <a:xfrm>
            <a:off x="6510528" y="1920240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892808"/>
            <a:ext cx="20116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Nếu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ở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đỉnh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thì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lấy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nó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ra</a:t>
            </a:r>
            <a:endParaRPr lang="en-US" sz="1150" err="1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10528" y="2753346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2498879"/>
            <a:ext cx="1996023" cy="809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91440" tIns="45720" rIns="91440" bIns="45720" rtlCol="0" anchor="ctr"/>
          <a:lstStyle/>
          <a:p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Nếu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không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ở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đỉnh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chứa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sang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khác</a:t>
            </a:r>
            <a:r>
              <a:rPr lang="en-US" sz="115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5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10528" y="3696055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3026664"/>
            <a:ext cx="20116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5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84848" y="3562277"/>
            <a:ext cx="2011680" cy="519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Chọn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cột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chuyển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sang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dựa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trên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hàm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xác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xuất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được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tính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bởi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ma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trận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pheromone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và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0B1F4B"/>
                </a:solidFill>
                <a:ea typeface="Calibri"/>
                <a:cs typeface="Calibri"/>
              </a:rPr>
              <a:t>hàm</a:t>
            </a:r>
            <a:r>
              <a:rPr lang="en-US" sz="1150">
                <a:solidFill>
                  <a:srgbClr val="0B1F4B"/>
                </a:solidFill>
                <a:ea typeface="Calibri"/>
                <a:cs typeface="Calibri"/>
              </a:rPr>
              <a:t> heuristic.</a:t>
            </a:r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Đề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xuất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tối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ưu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phương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pháp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+mn-lt"/>
              </a:rPr>
              <a:t> ACO </a:t>
            </a:r>
            <a:endParaRPr lang="vi-VN" b="1">
              <a:latin typeface="Cambria"/>
              <a:ea typeface="Cambria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83187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793" cy="345561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8412793" cy="404903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Bổ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 sung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khả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năng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hoán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đổi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  <a:cs typeface="+mn-lt"/>
              </a:rPr>
              <a:t> container</a:t>
            </a:r>
          </a:p>
        </p:txBody>
      </p:sp>
      <p:sp>
        <p:nvSpPr>
          <p:cNvPr id="9" name="Text 7"/>
          <p:cNvSpPr/>
          <p:nvPr/>
        </p:nvSpPr>
        <p:spPr>
          <a:xfrm>
            <a:off x="459831" y="1822288"/>
            <a:ext cx="8318596" cy="1131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thao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thay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đổi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cần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thay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vì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ở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(container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tiên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), ta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xét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việc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khác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(container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hoán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đổi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khi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4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này</a:t>
            </a:r>
            <a:r>
              <a:rPr lang="en-US" sz="14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10" name="Hình ảnh 9" descr="Ảnh có chứa văn bản, ảnh chụp màn hình, Hình chữ nhật, lỗ cắm&#10;&#10;Nội dung do AI tạo ra có thể không chính xác.">
            <a:extLst>
              <a:ext uri="{FF2B5EF4-FFF2-40B4-BE49-F238E27FC236}">
                <a16:creationId xmlns:a16="http://schemas.microsoft.com/office/drawing/2014/main" id="{ACD6B87D-78E0-354D-08AE-1FCAA2CC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" y="2567548"/>
            <a:ext cx="679132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898FE-3EFE-BD78-4CD5-644A945B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486729-7C82-1A7D-EE65-07AB73C67AA3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3E4F71-9127-E9BA-DF3E-FBE0D474B482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723177-9BE6-854E-14DF-9B7222DC7135}"/>
              </a:ext>
            </a:extLst>
          </p:cNvPr>
          <p:cNvSpPr/>
          <p:nvPr/>
        </p:nvSpPr>
        <p:spPr>
          <a:xfrm>
            <a:off x="365760" y="1383187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D0AA365-9817-399E-EB8C-BEE78C3E3415}"/>
              </a:ext>
            </a:extLst>
          </p:cNvPr>
          <p:cNvSpPr/>
          <p:nvPr/>
        </p:nvSpPr>
        <p:spPr>
          <a:xfrm>
            <a:off x="365760" y="626615"/>
            <a:ext cx="8412793" cy="434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945FBB1-DEDD-9650-62EB-F3A40A964C30}"/>
              </a:ext>
            </a:extLst>
          </p:cNvPr>
          <p:cNvSpPr/>
          <p:nvPr/>
        </p:nvSpPr>
        <p:spPr>
          <a:xfrm>
            <a:off x="365760" y="618786"/>
            <a:ext cx="8412793" cy="404903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7BF7C6-51F0-CF9B-5B9B-D274328D89CD}"/>
              </a:ext>
            </a:extLst>
          </p:cNvPr>
          <p:cNvSpPr/>
          <p:nvPr/>
        </p:nvSpPr>
        <p:spPr>
          <a:xfrm>
            <a:off x="363255" y="-124947"/>
            <a:ext cx="4025865" cy="19393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Phân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tích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cấu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trúc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của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thao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tác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hoán</a:t>
            </a:r>
            <a:r>
              <a:rPr lang="en-US" sz="1250" b="1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b="1" err="1">
                <a:solidFill>
                  <a:srgbClr val="FFFF00"/>
                </a:solidFill>
                <a:latin typeface="Cambria"/>
                <a:ea typeface="Cambria"/>
              </a:rPr>
              <a:t>đổi</a:t>
            </a:r>
            <a:endParaRPr lang="en-US" sz="125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F209DF-226E-8004-1B79-852EF4817817}"/>
              </a:ext>
            </a:extLst>
          </p:cNvPr>
          <p:cNvSpPr/>
          <p:nvPr/>
        </p:nvSpPr>
        <p:spPr>
          <a:xfrm>
            <a:off x="412858" y="1149014"/>
            <a:ext cx="8318596" cy="1131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Ta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coi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chắn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nhỏ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nhất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là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,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hoán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đổi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là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j,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nếu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ta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j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đến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j ′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trước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rồi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ngay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sau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đó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đến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′ ,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trong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trường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hợp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, j,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′ , j ′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đôi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một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phân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biệt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thì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thao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tác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hoán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đổi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ta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là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vô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nghĩa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vì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ta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hoàn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toàn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có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thể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đến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′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trước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rồi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mới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container j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đến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j ′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sau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mà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không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làm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thay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đổi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cấu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trúc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bãi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cũng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như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số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thao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tác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tái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định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0B1F4B"/>
                </a:solidFill>
                <a:ea typeface="+mn-lt"/>
                <a:cs typeface="+mn-lt"/>
              </a:rPr>
              <a:t>vị</a:t>
            </a:r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. </a:t>
            </a:r>
            <a:endParaRPr lang="vi-VN"/>
          </a:p>
        </p:txBody>
      </p:sp>
      <p:pic>
        <p:nvPicPr>
          <p:cNvPr id="4" name="Hình ảnh 3" descr="Ảnh có chứa văn bản, ảnh chụp màn hình, Hình chữ nhật, lỗ cắm&#10;&#10;Nội dung do AI tạo ra có thể không chính xác.">
            <a:extLst>
              <a:ext uri="{FF2B5EF4-FFF2-40B4-BE49-F238E27FC236}">
                <a16:creationId xmlns:a16="http://schemas.microsoft.com/office/drawing/2014/main" id="{E2CAE678-F833-2A92-7D71-C97B5F95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424393"/>
            <a:ext cx="56388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4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CF7A5-627E-CBE8-9E86-C153F23D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5C32C2-FCC6-F73F-0366-C790F7CFCF8B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EAE02D-473E-03A6-3669-FCFFA7F0741D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6FFBAA-05E6-5EA7-8CC4-B4CAAF0124C1}"/>
              </a:ext>
            </a:extLst>
          </p:cNvPr>
          <p:cNvSpPr/>
          <p:nvPr/>
        </p:nvSpPr>
        <p:spPr>
          <a:xfrm>
            <a:off x="365760" y="1383187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A87053-E5C6-F094-BFF7-4A70FCF3F572}"/>
              </a:ext>
            </a:extLst>
          </p:cNvPr>
          <p:cNvSpPr/>
          <p:nvPr/>
        </p:nvSpPr>
        <p:spPr>
          <a:xfrm>
            <a:off x="365760" y="618211"/>
            <a:ext cx="8412793" cy="434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0BE7CF-72A5-B42E-DDB4-EC50E98F7641}"/>
              </a:ext>
            </a:extLst>
          </p:cNvPr>
          <p:cNvSpPr/>
          <p:nvPr/>
        </p:nvSpPr>
        <p:spPr>
          <a:xfrm>
            <a:off x="365760" y="618786"/>
            <a:ext cx="8412793" cy="404903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89A040-938F-DDA2-7C77-49A988B082D9}"/>
              </a:ext>
            </a:extLst>
          </p:cNvPr>
          <p:cNvSpPr/>
          <p:nvPr/>
        </p:nvSpPr>
        <p:spPr>
          <a:xfrm>
            <a:off x="363255" y="-124947"/>
            <a:ext cx="4025865" cy="19393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Đề</a:t>
            </a:r>
            <a:r>
              <a:rPr lang="en-US" sz="125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xuất</a:t>
            </a:r>
            <a:r>
              <a:rPr lang="en-US" sz="125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thao</a:t>
            </a:r>
            <a:r>
              <a:rPr lang="en-US" sz="125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tác</a:t>
            </a:r>
            <a:r>
              <a:rPr lang="en-US" sz="125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hoán</a:t>
            </a:r>
            <a:r>
              <a:rPr lang="en-US" sz="125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1250" err="1">
                <a:solidFill>
                  <a:srgbClr val="FFFF00"/>
                </a:solidFill>
                <a:ea typeface="+mn-lt"/>
                <a:cs typeface="+mn-lt"/>
              </a:rPr>
              <a:t>đổi</a:t>
            </a:r>
            <a:endParaRPr lang="vi-VN" err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9A1CCC-4018-3F47-1924-DAA57FCBD5A5}"/>
              </a:ext>
            </a:extLst>
          </p:cNvPr>
          <p:cNvSpPr/>
          <p:nvPr/>
        </p:nvSpPr>
        <p:spPr>
          <a:xfrm>
            <a:off x="412858" y="1149014"/>
            <a:ext cx="8318596" cy="1131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>
                <a:solidFill>
                  <a:srgbClr val="0B1F4B"/>
                </a:solidFill>
                <a:ea typeface="+mn-lt"/>
                <a:cs typeface="+mn-lt"/>
              </a:rPr>
              <a:t>Khi ta chọn di chuyển container j (container hoán đổi) trước, rồi sau đó mới di chuyển container i (container ưu tiên). Giả sử container j hiện tại đang ở cột k, thì sau khi di chuyển container j đi cột khác, ta sẽ di chuyển container i đến ngay cột k.</a:t>
            </a:r>
            <a:endParaRPr lang="vi-VN">
              <a:ea typeface="+mn-lt"/>
              <a:cs typeface="+mn-lt"/>
            </a:endParaRPr>
          </a:p>
        </p:txBody>
      </p:sp>
      <p:pic>
        <p:nvPicPr>
          <p:cNvPr id="4" name="Hình ảnh 3" descr="Ảnh có chứa văn bản, ảnh chụp màn hình, Hình chữ nhật, lỗ cắm&#10;&#10;Nội dung do AI tạo ra có thể không chính xác.">
            <a:extLst>
              <a:ext uri="{FF2B5EF4-FFF2-40B4-BE49-F238E27FC236}">
                <a16:creationId xmlns:a16="http://schemas.microsoft.com/office/drawing/2014/main" id="{CF1A5697-2F1B-8D16-2B47-E3C927BE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88" y="2447645"/>
            <a:ext cx="50577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1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A85E3-64A7-49BB-47B3-26BB60FF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C88D8E-6366-219D-99CB-05840C4A76A4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ACDA19-9442-0644-93A8-043DF274A0A8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070E9E-3B3F-73F4-F8D4-9E1FECEE19AA}"/>
              </a:ext>
            </a:extLst>
          </p:cNvPr>
          <p:cNvSpPr/>
          <p:nvPr/>
        </p:nvSpPr>
        <p:spPr>
          <a:xfrm>
            <a:off x="365760" y="1383187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449F3B1-D8BB-B2B7-777B-2BC85E53F32D}"/>
              </a:ext>
            </a:extLst>
          </p:cNvPr>
          <p:cNvSpPr/>
          <p:nvPr/>
        </p:nvSpPr>
        <p:spPr>
          <a:xfrm>
            <a:off x="365760" y="626615"/>
            <a:ext cx="8412793" cy="434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ED85EE-E508-DBE6-2C7C-E2CB28E046AA}"/>
              </a:ext>
            </a:extLst>
          </p:cNvPr>
          <p:cNvSpPr/>
          <p:nvPr/>
        </p:nvSpPr>
        <p:spPr>
          <a:xfrm>
            <a:off x="365760" y="618786"/>
            <a:ext cx="8412793" cy="404903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241FA2-661D-39E4-049C-FBBC488725C4}"/>
              </a:ext>
            </a:extLst>
          </p:cNvPr>
          <p:cNvSpPr/>
          <p:nvPr/>
        </p:nvSpPr>
        <p:spPr>
          <a:xfrm>
            <a:off x="363255" y="-124947"/>
            <a:ext cx="4025865" cy="19393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>
                <a:solidFill>
                  <a:srgbClr val="FFFF00"/>
                </a:solidFill>
                <a:latin typeface="Cambria"/>
                <a:ea typeface="Cambria"/>
              </a:rPr>
              <a:t>Cách </a:t>
            </a:r>
            <a:r>
              <a:rPr lang="en-US" sz="1250" err="1">
                <a:solidFill>
                  <a:srgbClr val="FFFF00"/>
                </a:solidFill>
                <a:latin typeface="Cambria"/>
                <a:ea typeface="Cambria"/>
              </a:rPr>
              <a:t>tìm</a:t>
            </a:r>
            <a:r>
              <a:rPr lang="en-US" sz="1250">
                <a:solidFill>
                  <a:srgbClr val="FFFF00"/>
                </a:solidFill>
                <a:latin typeface="Cambria"/>
                <a:ea typeface="Cambria"/>
              </a:rPr>
              <a:t> container </a:t>
            </a:r>
            <a:r>
              <a:rPr lang="en-US" sz="1250" err="1">
                <a:solidFill>
                  <a:srgbClr val="FFFF00"/>
                </a:solidFill>
                <a:latin typeface="Cambria"/>
                <a:ea typeface="Cambria"/>
              </a:rPr>
              <a:t>hoán</a:t>
            </a:r>
            <a:r>
              <a:rPr lang="en-US" sz="1250">
                <a:solidFill>
                  <a:srgbClr val="FFFF00"/>
                </a:solidFill>
                <a:latin typeface="Cambria"/>
                <a:ea typeface="Cambria"/>
              </a:rPr>
              <a:t> </a:t>
            </a:r>
            <a:r>
              <a:rPr lang="en-US" sz="1250" err="1">
                <a:solidFill>
                  <a:srgbClr val="FFFF00"/>
                </a:solidFill>
                <a:latin typeface="Cambria"/>
                <a:ea typeface="Cambria"/>
              </a:rPr>
              <a:t>đổi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F9B064-1CCC-426D-EB5D-EAF55207CDBE}"/>
              </a:ext>
            </a:extLst>
          </p:cNvPr>
          <p:cNvSpPr/>
          <p:nvPr/>
        </p:nvSpPr>
        <p:spPr>
          <a:xfrm>
            <a:off x="412858" y="1149014"/>
            <a:ext cx="8318596" cy="1131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Quan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sát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kỹ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thao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tác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biến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đổi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, ta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nhận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thấy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rằng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: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việc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thực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hiện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thao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tác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chọn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container j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để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di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container j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khác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,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rồi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di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đến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ngay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k (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trước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đó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container j)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gần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như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tương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đương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với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việc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chọn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đích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k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cho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container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.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Và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việc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này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thì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ta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hoàn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toàn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có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thể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chọn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được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k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theo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hàm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xác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suất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được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tính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 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bởi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mảng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pheromone T[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][j]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nhưng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với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cách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tính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min-container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đặc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biệt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-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bỏ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qua container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đang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ở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trên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đỉnh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j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khi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tính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min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cột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B1F4B"/>
                </a:solidFill>
                <a:ea typeface="+mn-lt"/>
                <a:cs typeface="+mn-lt"/>
              </a:rPr>
              <a:t>này</a:t>
            </a:r>
            <a:r>
              <a:rPr lang="en-US" sz="1400" dirty="0">
                <a:solidFill>
                  <a:srgbClr val="0B1F4B"/>
                </a:solidFill>
                <a:ea typeface="+mn-lt"/>
                <a:cs typeface="+mn-lt"/>
              </a:rPr>
              <a:t>.</a:t>
            </a:r>
            <a:endParaRPr lang="vi-VN" dirty="0" err="1">
              <a:cs typeface="Arial" panose="020B0604020202020204" pitchFamily="34" charset="0"/>
            </a:endParaRPr>
          </a:p>
        </p:txBody>
      </p:sp>
      <p:pic>
        <p:nvPicPr>
          <p:cNvPr id="11" name="Hình ảnh 10" descr="Ảnh có chứa văn bản, ảnh chụp màn hình, Hình chữ nhật, lỗ cắm&#10;&#10;Nội dung do AI tạo ra có thể không chính xác.">
            <a:extLst>
              <a:ext uri="{FF2B5EF4-FFF2-40B4-BE49-F238E27FC236}">
                <a16:creationId xmlns:a16="http://schemas.microsoft.com/office/drawing/2014/main" id="{DE12E91A-E4BB-7BE6-8135-BBC90E6D4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3" y="2573711"/>
            <a:ext cx="50577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64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Thuật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toán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 ACO 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hoàn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chỉnh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(ACO2)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2196F3"/>
              </a:solidFill>
              <a:latin typeface="Cambria"/>
              <a:ea typeface="Cambri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1828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2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286000" y="1938528"/>
            <a:ext cx="6126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Tìm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tiên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nhất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cần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lấy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ra.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1828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3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2286000" y="2414016"/>
            <a:ext cx="6126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Nếu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bị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chắn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dùng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hàm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xác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suất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hàm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heuristic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lựa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chọn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2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loại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sau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300" err="1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0131" y="2889504"/>
            <a:ext cx="1824429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131" y="2889504"/>
            <a:ext cx="18244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dời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286000" y="2889504"/>
            <a:ext cx="6126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Di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tiên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ra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 err="1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0131" y="3364992"/>
            <a:ext cx="1824429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131" y="3364992"/>
            <a:ext cx="18244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Hoán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đổi</a:t>
            </a:r>
          </a:p>
        </p:txBody>
      </p:sp>
      <p:sp>
        <p:nvSpPr>
          <p:cNvPr id="18" name="Text 16"/>
          <p:cNvSpPr/>
          <p:nvPr/>
        </p:nvSpPr>
        <p:spPr>
          <a:xfrm>
            <a:off x="2286000" y="3521567"/>
            <a:ext cx="6126480" cy="1908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Chọn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khác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và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di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chuyển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đó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đi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trước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rồi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ngay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sau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đó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di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chuyển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container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ưu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tiên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tới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cột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nó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vừa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 di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chuyển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Calibri"/>
                <a:cs typeface="Calibri"/>
              </a:rPr>
              <a:t>đi</a:t>
            </a:r>
            <a:r>
              <a:rPr lang="en-US" sz="1300">
                <a:solidFill>
                  <a:srgbClr val="0B1F4B"/>
                </a:solidFill>
                <a:ea typeface="Calibri"/>
                <a:cs typeface="Calibri"/>
              </a:rPr>
              <a:t>.</a:t>
            </a:r>
          </a:p>
          <a:p>
            <a:endParaRPr lang="en-US" sz="130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1828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4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2286000" y="3840480"/>
            <a:ext cx="6126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hiện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lấy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hết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container,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cập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quả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>
              <a:solidFill>
                <a:srgbClr val="0B1F4B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1828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15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5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2286000" y="4315968"/>
            <a:ext cx="6126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Cập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nhật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ma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trận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SMMAS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50">
              <a:solidFill>
                <a:srgbClr val="0B1F4B"/>
              </a:solidFill>
              <a:latin typeface="Consolas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170F6893-F276-9205-AD3B-E90DD438EA80}"/>
              </a:ext>
            </a:extLst>
          </p:cNvPr>
          <p:cNvSpPr/>
          <p:nvPr/>
        </p:nvSpPr>
        <p:spPr>
          <a:xfrm>
            <a:off x="365760" y="1484690"/>
            <a:ext cx="1828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A1B8F3E-66FF-5303-4A02-B4DADA5BDD81}"/>
              </a:ext>
            </a:extLst>
          </p:cNvPr>
          <p:cNvSpPr/>
          <p:nvPr/>
        </p:nvSpPr>
        <p:spPr>
          <a:xfrm>
            <a:off x="256503" y="887977"/>
            <a:ext cx="2038911" cy="1532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20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6AB073D-9C1B-9783-4CEB-ABE2DD367580}"/>
              </a:ext>
            </a:extLst>
          </p:cNvPr>
          <p:cNvSpPr/>
          <p:nvPr/>
        </p:nvSpPr>
        <p:spPr>
          <a:xfrm>
            <a:off x="2277596" y="887977"/>
            <a:ext cx="6277759" cy="153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một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lựa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chọn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vào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hàm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pheromone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sang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thao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hoán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đổi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PHƯƠNG PHÁP ĐỀ XUẤT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lập tham số thuật toán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81838"/>
              </p:ext>
            </p:extLst>
          </p:nvPr>
        </p:nvGraphicFramePr>
        <p:xfrm>
          <a:off x="365760" y="1417320"/>
          <a:ext cx="8412479" cy="3474711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Tham số</a:t>
                      </a:r>
                      <a:endParaRPr lang="en-US" sz="14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en-US" sz="14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Ý nghĩa</a:t>
                      </a:r>
                      <a:endParaRPr lang="en-US" sz="14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numAnts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600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Số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lượng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kiến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mỗi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vòng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lặp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.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numIterations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600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Số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vòng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lặp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mỗi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restart.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loops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3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Số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lần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restart.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 i="0" u="none" strike="noStrike" noProof="0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</a:rPr>
                        <a:t>ρ</a:t>
                      </a:r>
                      <a:endParaRPr lang="vi-VN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0.05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Tỉ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lệ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bay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hơi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.</a:t>
                      </a:r>
                      <a:endParaRPr lang="en-US" sz="1300" err="1">
                        <a:solidFill>
                          <a:srgbClr val="546E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/>
                          <a:ea typeface="Consolas" charset="0"/>
                          <a:cs typeface="Consolas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0.5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Tham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số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trong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công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thức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trọng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số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chọn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cột</a:t>
                      </a:r>
                      <a:r>
                        <a:rPr lang="en-US" sz="1300" b="0" i="0" u="none" strike="noStrike" noProof="0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300" b="0" i="0" u="none" strike="noStrike" noProof="0" err="1">
                        <a:solidFill>
                          <a:srgbClr val="546E7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τ_min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1/N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Pheromone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tối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thiểu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(SMMAS).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B1F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τ_max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2196F3"/>
                          </a:solidFill>
                        </a:rPr>
                        <a:t>1.0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Pheromone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tối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</a:t>
                      </a:r>
                      <a:r>
                        <a:rPr lang="en-US" sz="1300" err="1">
                          <a:solidFill>
                            <a:srgbClr val="546E7A"/>
                          </a:solidFill>
                        </a:rPr>
                        <a:t>đa</a:t>
                      </a:r>
                      <a:r>
                        <a:rPr lang="en-US" sz="1300">
                          <a:solidFill>
                            <a:srgbClr val="546E7A"/>
                          </a:solidFill>
                        </a:rPr>
                        <a:t> (SMMAS).</a:t>
                      </a:r>
                      <a:endParaRPr lang="en-US" sz="13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b="1">
                        <a:solidFill>
                          <a:srgbClr val="0B1F4B"/>
                        </a:solidFill>
                        <a:latin typeface="Consolas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b="1">
                        <a:solidFill>
                          <a:srgbClr val="2196F3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>
                        <a:solidFill>
                          <a:srgbClr val="546E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CHƯƠNG 5 – THỰC NGHIỆM</a:t>
            </a:r>
            <a:endParaRPr lang="en-US" sz="9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 kiểm thử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474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402336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📦 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Bộ</a:t>
            </a: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nhỏ</a:t>
            </a:r>
            <a:endParaRPr lang="en-US" sz="1400" err="1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 bãi: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2560320" y="1993392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3×3 → 6×6</a:t>
            </a:r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container N: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2560320" y="2468880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7 → 31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err="1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Loại</a:t>
            </a:r>
            <a:r>
              <a:rPr lang="en-US" sz="125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 test cases: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0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trung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bình</a:t>
            </a:r>
            <a:endParaRPr lang="en-US" sz="1250" b="1" err="1">
              <a:solidFill>
                <a:srgbClr val="FFC107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err="1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Mục</a:t>
            </a:r>
            <a:r>
              <a:rPr lang="en-US" sz="125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đích</a:t>
            </a:r>
            <a:endParaRPr lang="vi-VN" err="1"/>
          </a:p>
        </p:txBody>
      </p:sp>
      <p:sp>
        <p:nvSpPr>
          <p:cNvPr id="16" name="Text 14"/>
          <p:cNvSpPr/>
          <p:nvPr/>
        </p:nvSpPr>
        <p:spPr>
          <a:xfrm>
            <a:off x="2560320" y="3419856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So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sánh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với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nhiều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thuật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toán</a:t>
            </a:r>
            <a:endParaRPr lang="en-US" sz="1250" err="1"/>
          </a:p>
        </p:txBody>
      </p:sp>
      <p:sp>
        <p:nvSpPr>
          <p:cNvPr id="17" name="Text 15"/>
          <p:cNvSpPr/>
          <p:nvPr/>
        </p:nvSpPr>
        <p:spPr>
          <a:xfrm>
            <a:off x="502920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>
              <a:solidFill>
                <a:srgbClr val="B0BEC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603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FFC10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114800" cy="347472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🌐  Bộ lớn</a:t>
            </a:r>
            <a:endParaRPr lang="en-US" sz="14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1993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 bãi: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6949440" y="1993392"/>
            <a:ext cx="16916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10×10 → 12x11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2468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container N: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16916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57→ 121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4800600" y="2944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cases: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6949440" y="294436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cấu hình lớn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4800600" y="34198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đích: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6949440" y="3419856"/>
            <a:ext cx="16916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So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sánh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với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những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thuật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250" b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err="1">
                <a:solidFill>
                  <a:srgbClr val="FFC107"/>
                </a:solidFill>
                <a:latin typeface="Calibri"/>
                <a:ea typeface="Calibri"/>
                <a:cs typeface="Calibri"/>
              </a:rPr>
              <a:t>nhất</a:t>
            </a:r>
            <a:endParaRPr lang="en-US" sz="1250" b="1" err="1">
              <a:solidFill>
                <a:srgbClr val="FFC107"/>
              </a:solidFill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00600" y="3895344"/>
            <a:ext cx="21031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>
              <a:solidFill>
                <a:srgbClr val="B0BEC5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49440" y="3895344"/>
            <a:ext cx="16916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FFC107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Kết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quả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thực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nghiệm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–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Bộ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dữ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liệu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nhỏ</a:t>
            </a:r>
            <a:endParaRPr lang="en-US" sz="3000" b="1" err="1">
              <a:solidFill>
                <a:srgbClr val="0B1F4B"/>
              </a:solidFill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224750"/>
              </p:ext>
            </p:extLst>
          </p:nvPr>
        </p:nvGraphicFramePr>
        <p:xfrm>
          <a:off x="1046863" y="1456464"/>
          <a:ext cx="7498080" cy="35204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H×W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CHAIN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BSA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GA luật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ACO1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B1F4B"/>
                          </a:solidFill>
                        </a:rPr>
                        <a:t>ACO2 ★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3×3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3,42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3,38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3,38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3,38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3,30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4×3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9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5,82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5,67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5,85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5,67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5,62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5×3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9,10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8,40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8,93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8,40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8,20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6×3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12,77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11,50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12,30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11,50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11,03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...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..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5×5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16,95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15,60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16,75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15,60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15,07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6×5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23,52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21,10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22,60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21,10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20,10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6×6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31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28,77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26,10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28,50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26,11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25,02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Tổng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–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139,14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127,98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136,44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127,99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123,67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So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sánh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tổng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số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thao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tác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định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vị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250" i="1">
              <a:solidFill>
                <a:srgbClr val="0B1F4B"/>
              </a:solidFill>
              <a:ea typeface="Calibri"/>
              <a:cs typeface="Calibri"/>
            </a:endParaRPr>
          </a:p>
        </p:txBody>
      </p:sp>
      <p:pic>
        <p:nvPicPr>
          <p:cNvPr id="9" name="Hình ảnh 8" descr="Ảnh có chứa văn bản, ảnh chụp màn hình, biểu đồ, hàng&#10;&#10;Nội dung do AI tạo ra có thể không chính xác.">
            <a:extLst>
              <a:ext uri="{FF2B5EF4-FFF2-40B4-BE49-F238E27FC236}">
                <a16:creationId xmlns:a16="http://schemas.microsoft.com/office/drawing/2014/main" id="{987538D3-A5BC-C87A-3C55-E995FFABF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087" y="1521199"/>
            <a:ext cx="6219825" cy="33281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So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sánh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số lần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định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vị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theo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quy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mô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bài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toán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i="1">
              <a:solidFill>
                <a:srgbClr val="0B1F4B"/>
              </a:solidFill>
              <a:ea typeface="Calibri"/>
              <a:cs typeface="Calibri"/>
            </a:endParaRPr>
          </a:p>
        </p:txBody>
      </p:sp>
      <p:pic>
        <p:nvPicPr>
          <p:cNvPr id="8" name="Hình ảnh 7" descr="Ảnh có chứa văn bản, hàng, ảnh chụp màn hình, biểu đồ&#10;&#10;Nội dung do AI tạo ra có thể không chính xác.">
            <a:extLst>
              <a:ext uri="{FF2B5EF4-FFF2-40B4-BE49-F238E27FC236}">
                <a16:creationId xmlns:a16="http://schemas.microsoft.com/office/drawing/2014/main" id="{F490CD7F-1C3D-99AA-5F8C-CFCD5742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61" y="1521198"/>
            <a:ext cx="635317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thời gian thực thi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600200"/>
            <a:ext cx="283464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655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Nhanh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6035040" y="1929384"/>
            <a:ext cx="265176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Bãi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nhỏ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(N&lt;20)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mất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&lt; 5 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giây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283464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4323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Chấp nhận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035040" y="2706624"/>
            <a:ext cx="265176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Bãi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vừa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(N=31) ~ 12 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giây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pic>
        <p:nvPicPr>
          <p:cNvPr id="19" name="Hình ảnh 18" descr="Ảnh có chứa văn bản, hàng, ảnh chụp màn hình, Sơ đồ&#10;&#10;Nội dung do AI tạo ra có thể không chính xác.">
            <a:extLst>
              <a:ext uri="{FF2B5EF4-FFF2-40B4-BE49-F238E27FC236}">
                <a16:creationId xmlns:a16="http://schemas.microsoft.com/office/drawing/2014/main" id="{3CD3468B-B711-E6E0-08F8-59B447C6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50" y="1599079"/>
            <a:ext cx="5324475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F187A-775D-1680-B941-D01B4D6B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DC8C43-752F-3E79-BA49-4B87F75AB05E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DAC2B7-9462-737A-8AF3-08F14FA56B25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7D91CF-C51A-A343-6928-ACC7A59F470C}"/>
              </a:ext>
            </a:extLst>
          </p:cNvPr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Kết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quả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thực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nghiệm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–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Bộ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dữ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liệu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lớn</a:t>
            </a:r>
            <a:endParaRPr lang="en-US" sz="3000" b="1" err="1">
              <a:solidFill>
                <a:srgbClr val="0B1F4B"/>
              </a:solidFill>
              <a:latin typeface="Cambria"/>
              <a:ea typeface="Cambri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9C5D34-5906-37C6-BFAF-EAB81B3A1A00}"/>
              </a:ext>
            </a:extLst>
          </p:cNvPr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60BA118-08C3-8E57-B3D8-07AE2D89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88076"/>
              </p:ext>
            </p:extLst>
          </p:nvPr>
        </p:nvGraphicFramePr>
        <p:xfrm>
          <a:off x="1573582" y="1722329"/>
          <a:ext cx="6244144" cy="2446577"/>
        </p:xfrm>
        <a:graphic>
          <a:graphicData uri="http://schemas.openxmlformats.org/drawingml/2006/table">
            <a:tbl>
              <a:tblPr/>
              <a:tblGrid>
                <a:gridCol w="981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95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H×W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</a:rPr>
                        <a:t>Juvanovic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 (ACO)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</a:rPr>
                        <a:t>Maglic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 (GA)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</a:rPr>
                        <a:t>Gulic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 (GA)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B1F4B"/>
                          </a:solidFill>
                        </a:rPr>
                        <a:t>ACO </a:t>
                      </a:r>
                      <a:r>
                        <a:rPr lang="en-US" sz="1200" b="1" err="1">
                          <a:solidFill>
                            <a:srgbClr val="0B1F4B"/>
                          </a:solidFill>
                        </a:rPr>
                        <a:t>đề</a:t>
                      </a:r>
                      <a:r>
                        <a:rPr lang="en-US" sz="1200" b="1">
                          <a:solidFill>
                            <a:srgbClr val="0B1F4B"/>
                          </a:solidFill>
                        </a:rPr>
                        <a:t> </a:t>
                      </a:r>
                      <a:r>
                        <a:rPr lang="en-US" sz="1200" b="1" err="1">
                          <a:solidFill>
                            <a:srgbClr val="0B1F4B"/>
                          </a:solidFill>
                        </a:rPr>
                        <a:t>xuất</a:t>
                      </a:r>
                      <a:r>
                        <a:rPr lang="en-US" sz="1200" b="1">
                          <a:solidFill>
                            <a:srgbClr val="0B1F4B"/>
                          </a:solidFill>
                        </a:rPr>
                        <a:t> ★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8×8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57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</a:rPr>
                        <a:t>57,05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</a:rPr>
                        <a:t>71,05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</a:rPr>
                        <a:t>69,00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1A3A6E"/>
                          </a:solidFill>
                          <a:latin typeface="Calibri"/>
                          <a:ea typeface="Calibri"/>
                          <a:cs typeface="Calibri"/>
                        </a:rPr>
                        <a:t>53,33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9x9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73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81,63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112,11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108,30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75,97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10×10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91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105,90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155,67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139,08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98,58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11x10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100</a:t>
                      </a:r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127,92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212,86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191,67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119,03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12×11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121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166,65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297,58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B1F4B"/>
                          </a:solidFill>
                        </a:rPr>
                        <a:t>258,35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3A6E"/>
                          </a:solidFill>
                        </a:rPr>
                        <a:t>153,53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Tổng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–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539,15</a:t>
                      </a:r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849,27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766,40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C107"/>
                          </a:solidFill>
                        </a:rPr>
                        <a:t>500,44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097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So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sánh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tổng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số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thao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tác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định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vị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i="1">
              <a:solidFill>
                <a:srgbClr val="0B1F4B"/>
              </a:solidFill>
              <a:ea typeface="Calibri"/>
              <a:cs typeface="Calibri"/>
            </a:endParaRPr>
          </a:p>
        </p:txBody>
      </p:sp>
      <p:pic>
        <p:nvPicPr>
          <p:cNvPr id="6" name="Hình ảnh 5" descr="Ảnh có chứa văn bản, ảnh chụp màn hình, biểu đồ, hàng&#10;&#10;Nội dung do AI tạo ra có thể không chính xác.">
            <a:extLst>
              <a:ext uri="{FF2B5EF4-FFF2-40B4-BE49-F238E27FC236}">
                <a16:creationId xmlns:a16="http://schemas.microsoft.com/office/drawing/2014/main" id="{647E73EE-613B-2B5E-3FF5-E29E4BE98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629" y="1708897"/>
            <a:ext cx="469750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38DE1-FCA9-B84E-5CFE-2523968E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772AF5-3B7D-9F15-A765-BFA69A37A4DA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02A13A-067E-8978-5193-5D9D7BCF1E2E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CCC48E-EC57-308D-0D5C-6650BF1E852C}"/>
              </a:ext>
            </a:extLst>
          </p:cNvPr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So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sánh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 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số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 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lần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 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tái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định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vị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theo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quy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 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mô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bài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</a:rPr>
              <a:t>toán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4153D3-A8BD-0B74-49D4-0FEE92EFE6B8}"/>
              </a:ext>
            </a:extLst>
          </p:cNvPr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54135D-B2CF-5CAF-0F77-1A8E213A44E2}"/>
              </a:ext>
            </a:extLst>
          </p:cNvPr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i="1">
              <a:solidFill>
                <a:srgbClr val="0B1F4B"/>
              </a:solidFill>
              <a:ea typeface="Calibri"/>
              <a:cs typeface="Calibri"/>
            </a:endParaRPr>
          </a:p>
        </p:txBody>
      </p:sp>
      <p:pic>
        <p:nvPicPr>
          <p:cNvPr id="8" name="Hình ảnh 7" descr="Ảnh có chứa văn bản, hàng, ảnh chụp màn hình, Sơ đồ&#10;&#10;Nội dung do AI tạo ra có thể không chính xác.">
            <a:extLst>
              <a:ext uri="{FF2B5EF4-FFF2-40B4-BE49-F238E27FC236}">
                <a16:creationId xmlns:a16="http://schemas.microsoft.com/office/drawing/2014/main" id="{DDBD56CA-DC28-975E-0D93-15B3103C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157" y="1491503"/>
            <a:ext cx="6054538" cy="33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4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08AF2-3FAB-FD35-F005-F4BCFCA8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F75D95-5919-C706-9139-06E0078ADB5F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9EB859-DAC4-9506-CADF-2CDD50E1474E}"/>
              </a:ext>
            </a:extLst>
          </p:cNvPr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E80211-217F-A48B-CEEA-71DA73B978DD}"/>
              </a:ext>
            </a:extLst>
          </p:cNvPr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thời gian thực thi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0B1C4F-E97B-3C19-9455-D6B7E5F44256}"/>
              </a:ext>
            </a:extLst>
          </p:cNvPr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6" name="Hình ảnh 5" descr="Ảnh có chứa văn bản, ảnh chụp màn hình, Sơ đồ, hàng&#10;&#10;Nội dung do AI tạo ra có thể không chính xác.">
            <a:extLst>
              <a:ext uri="{FF2B5EF4-FFF2-40B4-BE49-F238E27FC236}">
                <a16:creationId xmlns:a16="http://schemas.microsoft.com/office/drawing/2014/main" id="{A15340C5-0ED0-76BE-5212-5D5BD521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787" y="1565742"/>
            <a:ext cx="5392830" cy="312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28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THỰC NGHIỆM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Đánh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giá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tổng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hợp</a:t>
            </a:r>
            <a:r>
              <a:rPr lang="en-US" sz="3000" b="1">
                <a:solidFill>
                  <a:srgbClr val="0B1F4B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endParaRPr lang="en-US" sz="3000" b="1">
              <a:solidFill>
                <a:srgbClr val="0B1F4B"/>
              </a:solidFill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2CE749D-12B3-7F75-F263-7E14BA1BEAB5}"/>
              </a:ext>
            </a:extLst>
          </p:cNvPr>
          <p:cNvSpPr txBox="1"/>
          <p:nvPr/>
        </p:nvSpPr>
        <p:spPr>
          <a:xfrm>
            <a:off x="363490" y="1525646"/>
            <a:ext cx="840805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>
                <a:latin typeface="Arial"/>
                <a:ea typeface="+mn-lt"/>
                <a:cs typeface="Arial"/>
              </a:rPr>
              <a:t>Qua các kết quả thực nghiệm chi tiết, có thể đưa ra một số kết luận quan trọng: </a:t>
            </a:r>
          </a:p>
          <a:p>
            <a:r>
              <a:rPr lang="vi-VN">
                <a:latin typeface="Arial"/>
                <a:ea typeface="+mn-lt"/>
                <a:cs typeface="Arial"/>
              </a:rPr>
              <a:t>• Phương pháp đạt lời giải tối ưu cho mọi kích thước bay nhỏ mà LP có thể giải được. </a:t>
            </a:r>
          </a:p>
          <a:p>
            <a:r>
              <a:rPr lang="vi-VN">
                <a:latin typeface="Arial"/>
                <a:ea typeface="+mn-lt"/>
                <a:cs typeface="Arial"/>
              </a:rPr>
              <a:t>• Đối với kích thước bay lớn, phương pháp đề xuất luôn đạt kết quả tốt nhất. </a:t>
            </a:r>
          </a:p>
          <a:p>
            <a:r>
              <a:rPr lang="vi-VN">
                <a:latin typeface="Arial"/>
                <a:ea typeface="+mn-lt"/>
                <a:cs typeface="Arial"/>
              </a:rPr>
              <a:t>• Kích thước bay càng lớn, thuật toán càng cho thấy mình tốt hơn các thuật toán khác. </a:t>
            </a:r>
          </a:p>
          <a:p>
            <a:r>
              <a:rPr lang="vi-VN">
                <a:latin typeface="Arial"/>
                <a:ea typeface="+mn-lt"/>
                <a:cs typeface="Arial"/>
              </a:rPr>
              <a:t>• Thuật toán có cấu trúc ổn định, và có khả năng mở rộng tốt.</a:t>
            </a:r>
            <a:endParaRPr lang="vi-VN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 tương lai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384048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7955280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C0D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77724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Kết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hợp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ACO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với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tìm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kiếm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cục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tăng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cường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khai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thác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lời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giải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84048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99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822960" y="2075688"/>
            <a:ext cx="7955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0D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75688"/>
            <a:ext cx="77724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Mở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rộng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sang CRP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ba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chiều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xét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thêm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chiều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sâu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bãi</a:t>
            </a:r>
            <a:r>
              <a:rPr lang="en-US" sz="1300">
                <a:solidFill>
                  <a:srgbClr val="0B1F4B"/>
                </a:solidFill>
                <a:latin typeface="Calibri"/>
                <a:ea typeface="Calibri"/>
                <a:cs typeface="Calibri"/>
              </a:rPr>
              <a:t> container.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384048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822960" y="2642616"/>
            <a:ext cx="7955280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C0D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42616"/>
            <a:ext cx="77724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tích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hợp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thêm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các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mục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tiêu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khác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như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khoảng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cách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di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chuyển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vật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lý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của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cẩu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để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giải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bài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toán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đa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mục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tiêu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.</a:t>
            </a:r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384048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6382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822960" y="3209544"/>
            <a:ext cx="7955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0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095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phiên bản trực tuyến và ngẫu nhiên của bài toán CRP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384048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3075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822960" y="3776472"/>
            <a:ext cx="7955280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C0D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76472"/>
            <a:ext cx="77724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ứng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dụng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các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kỹ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thuật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học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sâu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và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học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tăng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cường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sâu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kết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hợp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0B1F4B"/>
                </a:solidFill>
                <a:ea typeface="+mn-lt"/>
                <a:cs typeface="+mn-lt"/>
              </a:rPr>
              <a:t>với</a:t>
            </a:r>
            <a:r>
              <a:rPr lang="en-US" sz="1300">
                <a:solidFill>
                  <a:srgbClr val="0B1F4B"/>
                </a:solidFill>
                <a:ea typeface="+mn-lt"/>
                <a:cs typeface="+mn-lt"/>
              </a:rPr>
              <a:t> ACO.</a:t>
            </a:r>
            <a:endParaRPr lang="vi-VN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>
                <a:solidFill>
                  <a:srgbClr val="1A3A6E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Em </a:t>
            </a:r>
            <a:r>
              <a:rPr lang="en-US" sz="5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xin</a:t>
            </a:r>
            <a:r>
              <a:rPr lang="en-US" sz="5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5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cảm</a:t>
            </a:r>
            <a:r>
              <a:rPr lang="en-US" sz="5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5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ơn</a:t>
            </a:r>
            <a:r>
              <a:rPr lang="en-US" sz="5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!</a:t>
            </a:r>
            <a:endParaRPr lang="en-US" sz="5200">
              <a:latin typeface="Cambria"/>
              <a:ea typeface="Cambr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mời Hội đồng đặt câu hỏi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Quang Thái Dương – K65 CNTT – ĐHQGHN  |  GVHD: TS. Đỗ Đức Đông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Tối ưu quy trình sắp xếp container tại cảng biển</dc:title>
  <dc:subject>PptxGenJS Presentation</dc:subject>
  <dc:creator>PptxGenJS</dc:creator>
  <cp:revision>6</cp:revision>
  <dcterms:created xsi:type="dcterms:W3CDTF">2026-05-19T00:59:37Z</dcterms:created>
  <dcterms:modified xsi:type="dcterms:W3CDTF">2026-06-03T05:46:58Z</dcterms:modified>
</cp:coreProperties>
</file>